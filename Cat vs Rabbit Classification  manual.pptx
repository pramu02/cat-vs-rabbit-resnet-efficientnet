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C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96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06" y="1304925"/>
            <a:ext cx="76771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vs Rabbit Classification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35804" y="2143125"/>
            <a:ext cx="42723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vs EfficientNet-B0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71321" y="3072765"/>
            <a:ext cx="300123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FIG (Fire, Ice, Gold)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71321" y="3465195"/>
            <a:ext cx="300123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 K.C. • Laxmi Satyal • Pramesh Maharjan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71321" y="3651885"/>
            <a:ext cx="300123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Wright State University • CS 6900: Deep Learning</a:t>
            </a:r>
            <a:endParaRPr lang="en-US" sz="1050" dirty="0"/>
          </a:p>
        </p:txBody>
      </p:sp>
      <p:pic>
        <p:nvPicPr>
          <p:cNvPr id="7" name="Image 0" descr="https://pplx-res.cloudinary.com/image/upload/v1764634918/search_images/a74107933bd9083f4d2801d4417f71372b3215f4.jpg">
            <a:extLst>
              <a:ext uri="{FF2B5EF4-FFF2-40B4-BE49-F238E27FC236}">
                <a16:creationId xmlns:a16="http://schemas.microsoft.com/office/drawing/2014/main" id="{461E31E8-6A68-1F1A-5615-A89AF61D9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050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deep learning model for binary image classification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architectures: ResNet18 vs EfficientNet-B0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transfer learning effectiveness on limited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per-epoch metrics (accuracy, precision, recall)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insights into modern CNN architecture design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ttps://pplx-res.cloudinary.com/image/upload/v1764634918/search_images/8198f73bb7d2c547efacfed8c7243e0cbd2cfe13.jpg">
            <a:extLst>
              <a:ext uri="{FF2B5EF4-FFF2-40B4-BE49-F238E27FC236}">
                <a16:creationId xmlns:a16="http://schemas.microsoft.com/office/drawing/2014/main" id="{B98D6120-ED46-75A9-2931-9B42F16A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991" y="3044154"/>
            <a:ext cx="1410141" cy="1047750"/>
          </a:xfrm>
          <a:prstGeom prst="rect">
            <a:avLst/>
          </a:prstGeom>
        </p:spPr>
      </p:pic>
      <p:pic>
        <p:nvPicPr>
          <p:cNvPr id="13" name="Image 1" descr="https://pplx-res.cloudinary.com/image/upload/v1764634918/search_images/bca10ccf40d4c9f737d15b48584bc92beb19f70f.jpg">
            <a:extLst>
              <a:ext uri="{FF2B5EF4-FFF2-40B4-BE49-F238E27FC236}">
                <a16:creationId xmlns:a16="http://schemas.microsoft.com/office/drawing/2014/main" id="{AF96501D-B9B3-65C4-3AF8-CC0D429C6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478" y="3088116"/>
            <a:ext cx="1047750" cy="1047750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A7699FBC-DCA0-56B9-C6C9-93FC759DB3D7}"/>
              </a:ext>
            </a:extLst>
          </p:cNvPr>
          <p:cNvSpPr/>
          <p:nvPr/>
        </p:nvSpPr>
        <p:spPr>
          <a:xfrm>
            <a:off x="3592782" y="1490424"/>
            <a:ext cx="2116931" cy="2035969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8DAB3D2-374D-FCED-92A6-CBB93B35F899}"/>
              </a:ext>
            </a:extLst>
          </p:cNvPr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Kaggle Cat-Rabbit Images</a:t>
            </a:r>
            <a:endParaRPr lang="en-US" sz="27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9362189-E0CD-9C01-C44A-E7B20A4052FB}"/>
              </a:ext>
            </a:extLst>
          </p:cNvPr>
          <p:cNvSpPr/>
          <p:nvPr/>
        </p:nvSpPr>
        <p:spPr>
          <a:xfrm>
            <a:off x="3742134" y="1402081"/>
            <a:ext cx="1692926" cy="23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96"/>
              </a:lnSpc>
              <a:buNone/>
            </a:pPr>
            <a:endParaRPr lang="en-US" sz="1560" b="1" dirty="0">
              <a:solidFill>
                <a:srgbClr val="10B98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496"/>
              </a:lnSpc>
              <a:buNone/>
            </a:pPr>
            <a:r>
              <a:rPr lang="en-US" sz="15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Statistics</a:t>
            </a:r>
            <a:endParaRPr lang="en-US" sz="156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A4676156-1D13-D23C-E897-4992E0BF4352}"/>
              </a:ext>
            </a:extLst>
          </p:cNvPr>
          <p:cNvSpPr/>
          <p:nvPr/>
        </p:nvSpPr>
        <p:spPr>
          <a:xfrm>
            <a:off x="3742134" y="1761649"/>
            <a:ext cx="16929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D4E8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Images: </a:t>
            </a: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</a:t>
            </a:r>
            <a:endParaRPr lang="en-US" sz="1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683D838-5A3F-4ADF-5013-A1E013CED4E7}"/>
              </a:ext>
            </a:extLst>
          </p:cNvPr>
          <p:cNvSpPr/>
          <p:nvPr/>
        </p:nvSpPr>
        <p:spPr>
          <a:xfrm>
            <a:off x="3742134" y="1975009"/>
            <a:ext cx="16929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D4E8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</a:t>
            </a: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 (80%)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B6606DD-CD7C-B922-15B1-BDB999DF1202}"/>
              </a:ext>
            </a:extLst>
          </p:cNvPr>
          <p:cNvSpPr/>
          <p:nvPr/>
        </p:nvSpPr>
        <p:spPr>
          <a:xfrm>
            <a:off x="3742134" y="2188369"/>
            <a:ext cx="16929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D4E8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</a:t>
            </a: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 (20%)</a:t>
            </a:r>
            <a:endParaRPr lang="en-US" sz="1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6416D30-9F64-BFC9-E37C-143E52ECAE78}"/>
              </a:ext>
            </a:extLst>
          </p:cNvPr>
          <p:cNvSpPr/>
          <p:nvPr/>
        </p:nvSpPr>
        <p:spPr>
          <a:xfrm>
            <a:off x="3742134" y="2401729"/>
            <a:ext cx="16929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D4E8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Classes: </a:t>
            </a: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(Cat, Rabbit)</a:t>
            </a:r>
            <a:endParaRPr lang="en-US" sz="12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A7D6EE3-90C8-CD8C-668B-6367831C4739}"/>
              </a:ext>
            </a:extLst>
          </p:cNvPr>
          <p:cNvSpPr/>
          <p:nvPr/>
        </p:nvSpPr>
        <p:spPr>
          <a:xfrm>
            <a:off x="3742134" y="2644021"/>
            <a:ext cx="16929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D4E8E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</a:t>
            </a: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1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2D46D1-CA2A-9AE8-2D49-0400747C16FE}"/>
              </a:ext>
            </a:extLst>
          </p:cNvPr>
          <p:cNvSpPr/>
          <p:nvPr/>
        </p:nvSpPr>
        <p:spPr>
          <a:xfrm>
            <a:off x="1371819" y="4139933"/>
            <a:ext cx="106870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08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CC5147A-5609-3639-9ED2-3A0C4933FC1B}"/>
              </a:ext>
            </a:extLst>
          </p:cNvPr>
          <p:cNvSpPr/>
          <p:nvPr/>
        </p:nvSpPr>
        <p:spPr>
          <a:xfrm>
            <a:off x="6703476" y="4235897"/>
            <a:ext cx="106870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1"/>
            <a:ext cx="7924800" cy="1807369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09449"/>
            <a:ext cx="7924800" cy="1807369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These Models Work (Simple Explanation)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020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98320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 layers that learn patterns in images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38200" y="2055852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feature: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Shortcuts that help train faster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38200" y="2313384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11.7M parameters (bigger)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570916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but slower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38200" y="3438049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3834289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Smart, efficient design for accuracy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38200" y="4091822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feature: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Attention mechanism (focuses on important parts)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38200" y="4349353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5.3M parameters (55% smaller)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38200" y="4606886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Very fast &amp; accurate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4441"/>
            <a:ext cx="1798320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51760" y="1234441"/>
            <a:ext cx="1798320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93920" y="1234441"/>
            <a:ext cx="1798320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6081" y="1234441"/>
            <a:ext cx="1798320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878927"/>
            <a:ext cx="1389936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3376" y="1878927"/>
            <a:ext cx="1389936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77151" y="1878927"/>
            <a:ext cx="1389936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10928" y="1878927"/>
            <a:ext cx="1389936" cy="553045"/>
          </a:xfrm>
          <a:prstGeom prst="roundRect">
            <a:avLst>
              <a:gd name="adj" fmla="val 66136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4702" y="1878927"/>
            <a:ext cx="1389936" cy="553045"/>
          </a:xfrm>
          <a:prstGeom prst="roundRect">
            <a:avLst>
              <a:gd name="adj" fmla="val 66136"/>
            </a:avLst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2584372"/>
            <a:ext cx="7924800" cy="996672"/>
          </a:xfrm>
          <a:prstGeom prst="roundRect">
            <a:avLst>
              <a:gd name="adj" fmla="val 36698"/>
            </a:avLst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581044"/>
            <a:ext cx="7924800" cy="1156692"/>
          </a:xfrm>
          <a:prstGeom prst="roundRect">
            <a:avLst>
              <a:gd name="adj" fmla="val 31621"/>
            </a:avLst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Algorithm (Detailed &amp; Flowchart)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31520" y="1356361"/>
            <a:ext cx="1554480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731520" y="1526978"/>
            <a:ext cx="1554480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53640" y="1404226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73680" y="1356361"/>
            <a:ext cx="1554480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7×7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773680" y="1526978"/>
            <a:ext cx="1554480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channels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495800" y="1404226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5840" y="1356361"/>
            <a:ext cx="1554480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815840" y="1526978"/>
            <a:ext cx="1554480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stride 2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537960" y="1404226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356361"/>
            <a:ext cx="1554480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0" y="1526978"/>
            <a:ext cx="1554480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ch (×2)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35604" y="2000847"/>
            <a:ext cx="113792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35604" y="2171462"/>
            <a:ext cx="1137928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ch (×2)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045256" y="2048709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69379" y="2000847"/>
            <a:ext cx="113792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2369379" y="2171462"/>
            <a:ext cx="1137928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ch (×2)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3679031" y="2048709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03155" y="2000847"/>
            <a:ext cx="113792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4003155" y="2171462"/>
            <a:ext cx="1137928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ch (×2)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312807" y="2048709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36930" y="2000847"/>
            <a:ext cx="113792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Pool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5636930" y="2171462"/>
            <a:ext cx="1137928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6946583" y="2048709"/>
            <a:ext cx="15544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70706" y="2000847"/>
            <a:ext cx="1137928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b="1" dirty="0">
                <a:solidFill>
                  <a:srgbClr val="0A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512→2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7270706" y="2171462"/>
            <a:ext cx="1137928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0A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46760" y="2721531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Innovation: Residual Connections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746760" y="2963823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 networks forget early features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6760" y="3123844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Shortcut path that skips blocks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6760" y="3283864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y = F(x) + x (learn residuals, not full mapping)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6760" y="3718205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Details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46760" y="3960497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18 convolutional layers total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6760" y="4120516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block has 2 3×3 convolutions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6760" y="4280536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BatchNorm + ReLU after each conv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6760" y="4440556"/>
            <a:ext cx="780349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11.7M learnable parameters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7299"/>
            <a:ext cx="1938814" cy="626269"/>
          </a:xfrm>
          <a:prstGeom prst="roundRect">
            <a:avLst>
              <a:gd name="adj" fmla="val 58403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79007" y="2048114"/>
            <a:ext cx="1938814" cy="626269"/>
          </a:xfrm>
          <a:prstGeom prst="roundRect">
            <a:avLst>
              <a:gd name="adj" fmla="val 58403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5106" y="2845117"/>
            <a:ext cx="2314574" cy="626269"/>
          </a:xfrm>
          <a:prstGeom prst="roundRect">
            <a:avLst>
              <a:gd name="adj" fmla="val 58403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11227" y="3640929"/>
            <a:ext cx="2080060" cy="651273"/>
          </a:xfrm>
          <a:prstGeom prst="roundRect">
            <a:avLst>
              <a:gd name="adj" fmla="val 44703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20013" y="4480560"/>
            <a:ext cx="1938814" cy="394094"/>
          </a:xfrm>
          <a:prstGeom prst="roundRect">
            <a:avLst>
              <a:gd name="adj" fmla="val 78447"/>
            </a:avLst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68820" y="1021080"/>
            <a:ext cx="2314575" cy="2951797"/>
          </a:xfrm>
          <a:prstGeom prst="roundRect">
            <a:avLst>
              <a:gd name="adj" fmla="val 15802"/>
            </a:avLst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 Algorithm (Flowchart)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92295" y="1374460"/>
            <a:ext cx="157342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92295" y="1566388"/>
            <a:ext cx="157342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 pixels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8827360">
            <a:off x="2616904" y="1674941"/>
            <a:ext cx="45719" cy="107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761702" y="2185276"/>
            <a:ext cx="157342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Conv 3×3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761702" y="2377203"/>
            <a:ext cx="157342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feature extraction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7801" y="2982276"/>
            <a:ext cx="1878369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MBConv Stages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927801" y="3120866"/>
            <a:ext cx="187836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16→24→40→80→112→192→320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1726" y="3778088"/>
            <a:ext cx="1654953" cy="383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(1280) + SE Blocks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601726" y="4001926"/>
            <a:ext cx="16880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refinement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 flipH="1">
            <a:off x="2085757" y="1735576"/>
            <a:ext cx="10576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6002708" y="4545564"/>
            <a:ext cx="157342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b="1" dirty="0">
                <a:solidFill>
                  <a:srgbClr val="0A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Prediction!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732211" y="1203960"/>
            <a:ext cx="198779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2784" y="1539241"/>
            <a:ext cx="1917731" cy="112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8"/>
              </a:lnSpc>
              <a:buSzPct val="100000"/>
            </a:pPr>
            <a:r>
              <a:rPr lang="en-US" sz="96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Inverted Bottleneck</a:t>
            </a:r>
            <a:endParaRPr lang="en-US" sz="960" dirty="0"/>
          </a:p>
          <a:p>
            <a:pPr>
              <a:lnSpc>
                <a:spcPts val="2048"/>
              </a:lnSpc>
              <a:buSzPct val="100000"/>
            </a:pPr>
            <a:r>
              <a:rPr lang="en-US" sz="96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Squeeze-Excitation blocks</a:t>
            </a:r>
            <a:endParaRPr lang="en-US" sz="960" dirty="0"/>
          </a:p>
          <a:p>
            <a:pPr>
              <a:lnSpc>
                <a:spcPts val="2048"/>
              </a:lnSpc>
              <a:buSzPct val="100000"/>
            </a:pPr>
            <a:r>
              <a:rPr lang="en-US" sz="96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5.3M parameters</a:t>
            </a:r>
            <a:endParaRPr lang="en-US" sz="960" dirty="0"/>
          </a:p>
          <a:p>
            <a:pPr>
              <a:lnSpc>
                <a:spcPts val="2048"/>
              </a:lnSpc>
              <a:buSzPct val="100000"/>
            </a:pPr>
            <a:r>
              <a:rPr lang="en-US" sz="96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smaller than ResNet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732211" y="2814638"/>
            <a:ext cx="198779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32211" y="3088958"/>
            <a:ext cx="19877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at all channels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32211" y="3248979"/>
            <a:ext cx="19877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"Which channels matter most?"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32211" y="3408997"/>
            <a:ext cx="19877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important ones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32211" y="3629979"/>
            <a:ext cx="19877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Better accuracy, faster! </a:t>
            </a:r>
            <a:endParaRPr lang="en-US" sz="9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29A4A914-BE42-6F0E-00D0-538AFD99AC25}"/>
              </a:ext>
            </a:extLst>
          </p:cNvPr>
          <p:cNvSpPr/>
          <p:nvPr/>
        </p:nvSpPr>
        <p:spPr>
          <a:xfrm flipH="1">
            <a:off x="3015397" y="2535676"/>
            <a:ext cx="10576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B6A3601E-FF46-CED1-00F2-D542AB95611F}"/>
              </a:ext>
            </a:extLst>
          </p:cNvPr>
          <p:cNvSpPr/>
          <p:nvPr/>
        </p:nvSpPr>
        <p:spPr>
          <a:xfrm flipH="1">
            <a:off x="4569877" y="3343396"/>
            <a:ext cx="10576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150EECB4-7AB9-79FF-4904-8F302633B863}"/>
              </a:ext>
            </a:extLst>
          </p:cNvPr>
          <p:cNvSpPr/>
          <p:nvPr/>
        </p:nvSpPr>
        <p:spPr>
          <a:xfrm flipH="1">
            <a:off x="6002708" y="4167186"/>
            <a:ext cx="10576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47575"/>
            <a:ext cx="1162050" cy="373380"/>
          </a:xfrm>
          <a:prstGeom prst="roundRect">
            <a:avLst>
              <a:gd name="adj" fmla="val 97959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2150" y="147828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14700" y="147828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147828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19800" y="147828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72350" y="147828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215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1470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725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1980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72350" y="2051210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2936439"/>
            <a:ext cx="1701641" cy="388620"/>
          </a:xfrm>
          <a:prstGeom prst="roundRect">
            <a:avLst>
              <a:gd name="adj" fmla="val 94118"/>
            </a:avLst>
          </a:prstGeom>
          <a:solidFill>
            <a:srgbClr val="134C3A"/>
          </a:solidFill>
          <a:ln w="22860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01741" y="2624138"/>
            <a:ext cx="1975009" cy="1013341"/>
          </a:xfrm>
          <a:prstGeom prst="roundRect">
            <a:avLst>
              <a:gd name="adj" fmla="val 36094"/>
            </a:avLst>
          </a:prstGeom>
          <a:solidFill>
            <a:srgbClr val="0F5A44"/>
          </a:solidFill>
          <a:ln w="15240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0" y="2624138"/>
            <a:ext cx="1975009" cy="1013341"/>
          </a:xfrm>
          <a:prstGeom prst="roundRect">
            <a:avLst>
              <a:gd name="adj" fmla="val 36094"/>
            </a:avLst>
          </a:prstGeom>
          <a:solidFill>
            <a:srgbClr val="0F5A44"/>
          </a:solidFill>
          <a:ln w="15240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32759" y="2936439"/>
            <a:ext cx="1701641" cy="388620"/>
          </a:xfrm>
          <a:prstGeom prst="roundRect">
            <a:avLst>
              <a:gd name="adj" fmla="val 94118"/>
            </a:avLst>
          </a:prstGeom>
          <a:solidFill>
            <a:srgbClr val="134C3A"/>
          </a:solidFill>
          <a:ln w="22860">
            <a:solidFill>
              <a:srgbClr val="34D3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3698439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62150" y="3698439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14700" y="3698439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67250" y="3698439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19800" y="3698439"/>
            <a:ext cx="1162050" cy="511969"/>
          </a:xfrm>
          <a:prstGeom prst="roundRect">
            <a:avLst>
              <a:gd name="adj" fmla="val 71442"/>
            </a:avLst>
          </a:prstGeom>
          <a:solidFill>
            <a:srgbClr val="134C3A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72350" y="3767733"/>
            <a:ext cx="1162050" cy="373380"/>
          </a:xfrm>
          <a:prstGeom prst="roundRect">
            <a:avLst>
              <a:gd name="adj" fmla="val 97959"/>
            </a:avLst>
          </a:prstGeom>
          <a:solidFill>
            <a:srgbClr val="10B981"/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Training Pipeline (Script Flow)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722338" y="1654255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09750" y="1654255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74888" y="1584961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74888" y="174498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images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162300" y="1654255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7438" y="1584961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7438" y="174498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Flip, rotate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514850" y="1654255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9988" y="1584961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9988" y="174498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stats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5867400" y="1654255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32538" y="1584961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32538" y="174498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219950" y="1654255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85088" y="1584961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85088" y="174498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32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2233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ResNet18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233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weights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1809750" y="2227183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7488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EfficientNet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7488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weights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3162300" y="2227183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2743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Heads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2743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2 class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514850" y="2227183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998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Optimizer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7998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lr=0.001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5867400" y="2227183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3253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3253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CrossEntropy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7219950" y="2227183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85088" y="215788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GPU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85088" y="2317910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device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724715" y="3050739"/>
            <a:ext cx="14714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Epoch = 1 to 15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349341" y="3050739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606350" y="2730817"/>
            <a:ext cx="17657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Loop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606350" y="2890838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batch: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2606350" y="3018830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Forward pass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2606350" y="3146822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Compute loss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606350" y="3274814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Backward pass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2606350" y="3402806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weights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4514850" y="3050739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71858" y="2730817"/>
            <a:ext cx="17657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71858" y="2890838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320 imgs: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4771858" y="3018830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Accuracy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4771858" y="3146822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Precision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4771858" y="3274814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Recall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4771858" y="3402806"/>
            <a:ext cx="1765792" cy="12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7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best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6680359" y="3050739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47874" y="3050739"/>
            <a:ext cx="14714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Epoch Results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22338" y="380511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Best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22338" y="3965139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1809750" y="3874412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074888" y="380511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074888" y="3965139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metrics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3162300" y="3874412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427438" y="380511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427438" y="3965139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4514850" y="3874412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779988" y="380511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Curves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779988" y="3965139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&amp; Acc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5867400" y="3874412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132538" y="3805119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132538" y="3965139"/>
            <a:ext cx="936574" cy="13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6"/>
              </a:lnSpc>
              <a:buNone/>
            </a:pPr>
            <a:r>
              <a:rPr lang="en-US" sz="7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7219950" y="3874412"/>
            <a:ext cx="11658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485088" y="3874412"/>
            <a:ext cx="9365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b="1" dirty="0">
                <a:solidFill>
                  <a:srgbClr val="0A3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COMPLETE!</a:t>
            </a:r>
            <a:endParaRPr lang="en-US" sz="900" dirty="0"/>
          </a:p>
        </p:txBody>
      </p:sp>
      <p:pic>
        <p:nvPicPr>
          <p:cNvPr id="92" name="Graphic 91" descr="Checkmark with solid fill">
            <a:extLst>
              <a:ext uri="{FF2B5EF4-FFF2-40B4-BE49-F238E27FC236}">
                <a16:creationId xmlns:a16="http://schemas.microsoft.com/office/drawing/2014/main" id="{809AF331-2A8B-A374-67B0-3BD9AB217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256" y="3926774"/>
            <a:ext cx="160020" cy="160020"/>
          </a:xfrm>
          <a:prstGeom prst="rect">
            <a:avLst/>
          </a:prstGeom>
        </p:spPr>
      </p:pic>
      <p:pic>
        <p:nvPicPr>
          <p:cNvPr id="94" name="Graphic 93" descr="Rocket with solid fill">
            <a:extLst>
              <a:ext uri="{FF2B5EF4-FFF2-40B4-BE49-F238E27FC236}">
                <a16:creationId xmlns:a16="http://schemas.microsoft.com/office/drawing/2014/main" id="{BD8251D8-E89D-D213-DA68-62A2C542A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994" y="1692063"/>
            <a:ext cx="160020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Both Models Learn (15 Training Epochs)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4739644"/>
            <a:ext cx="8083296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Accuracy Growth</a:t>
            </a:r>
            <a:endParaRPr lang="en-US" sz="1020" dirty="0"/>
          </a:p>
        </p:txBody>
      </p:sp>
      <p:sp>
        <p:nvSpPr>
          <p:cNvPr id="4" name="Text 2"/>
          <p:cNvSpPr/>
          <p:nvPr/>
        </p:nvSpPr>
        <p:spPr>
          <a:xfrm>
            <a:off x="530352" y="4920977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 (orange) vs EfficientNet (red)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8951951"/>
            <a:ext cx="8083296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4"/>
              </a:lnSpc>
              <a:buNone/>
            </a:pPr>
            <a:r>
              <a:rPr lang="en-US" sz="10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Error Decrease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30352" y="9133284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9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= Better (Less mistakes)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630EE-D39F-1C30-DD45-7EC3E39E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32" y="1178752"/>
            <a:ext cx="7111218" cy="35556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991797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1769" y="2989574"/>
            <a:ext cx="7924800" cy="1991797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Per-Epoch Analysis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92480" y="1356359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097280" y="1679377"/>
            <a:ext cx="72542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1: 78.44% (strong start)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 5: 82.81% 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15: 86.56% (peak)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Overfitting: -1.25% gap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4649" y="3172455"/>
            <a:ext cx="7710221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099449" y="3495473"/>
            <a:ext cx="72542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1: 55.94%% (slow start)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14: 91.87% (highest)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15: 88.44% (decline)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Overfitting: +5.00% gap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Results: Who Got It Right?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4221482"/>
            <a:ext cx="34805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4434841"/>
            <a:ext cx="3480539" cy="145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Got 277 right out of 320</a:t>
            </a:r>
            <a:endParaRPr lang="en-US" sz="96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4605458"/>
            <a:ext cx="3480539" cy="145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Confused on 43 images</a:t>
            </a:r>
            <a:endParaRPr lang="en-US" sz="960" dirty="0">
              <a:solidFill>
                <a:schemeClr val="bg1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60B17EF-5F00-484B-F87F-2DAC876B19E5}"/>
              </a:ext>
            </a:extLst>
          </p:cNvPr>
          <p:cNvSpPr/>
          <p:nvPr/>
        </p:nvSpPr>
        <p:spPr>
          <a:xfrm>
            <a:off x="4458123" y="4256123"/>
            <a:ext cx="3480539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64"/>
              </a:lnSpc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EfficientNet-B0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2E9A8B0-1972-213A-152A-8C17230A7FC0}"/>
              </a:ext>
            </a:extLst>
          </p:cNvPr>
          <p:cNvSpPr/>
          <p:nvPr/>
        </p:nvSpPr>
        <p:spPr>
          <a:xfrm>
            <a:off x="4458123" y="4469482"/>
            <a:ext cx="3480539" cy="145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04"/>
              </a:lnSpc>
            </a:pPr>
            <a:r>
              <a:rPr lang="en-US" sz="10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Got  294 correct</a:t>
            </a:r>
            <a:endParaRPr lang="en-US" sz="10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27614AD-75EA-5E51-9654-E459FE2AB17D}"/>
              </a:ext>
            </a:extLst>
          </p:cNvPr>
          <p:cNvSpPr/>
          <p:nvPr/>
        </p:nvSpPr>
        <p:spPr>
          <a:xfrm>
            <a:off x="4458123" y="4640099"/>
            <a:ext cx="3480539" cy="145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04"/>
              </a:lnSpc>
            </a:pPr>
            <a:r>
              <a:rPr lang="en-US" sz="10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26 images false classified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28D7E-EF8D-67A1-557F-B6FED476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3" y="1096461"/>
            <a:ext cx="7885292" cy="31596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3183467" cy="2434947"/>
          </a:xfrm>
          <a:prstGeom prst="roundRect">
            <a:avLst>
              <a:gd name="adj" fmla="val 15021"/>
            </a:avLst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0510" y="2541796"/>
            <a:ext cx="3285290" cy="2457807"/>
          </a:xfrm>
          <a:prstGeom prst="roundRect">
            <a:avLst>
              <a:gd name="adj" fmla="val 14882"/>
            </a:avLst>
          </a:prstGeom>
          <a:solidFill>
            <a:srgbClr val="134C3A"/>
          </a:solidFill>
          <a:ln w="2286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Who's Better? The Numbers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02082"/>
            <a:ext cx="7616952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ResNet18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38200" y="1755577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Accuracy: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1947504"/>
            <a:ext cx="7616952" cy="27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12"/>
              </a:lnSpc>
              <a:buNone/>
            </a:pPr>
            <a:r>
              <a:rPr lang="en-US" sz="156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86.56%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838200" y="2316245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Meaning: Out of 100 images, gets 87 right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38200" y="2649973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Achieved: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2841906"/>
            <a:ext cx="7616952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64"/>
              </a:lnSpc>
              <a:buNone/>
            </a:pPr>
            <a:r>
              <a:rPr lang="en-US" sz="13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86.56%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38200" y="3198498"/>
            <a:ext cx="761695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Size: </a:t>
            </a: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 Million weights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249109" y="2793260"/>
            <a:ext cx="2954867" cy="201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EfficientNet-B0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249109" y="3146755"/>
            <a:ext cx="295486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Accuracy: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249109" y="3338683"/>
            <a:ext cx="2954867" cy="27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12"/>
              </a:lnSpc>
              <a:buNone/>
            </a:pPr>
            <a:r>
              <a:rPr lang="en-US" sz="156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88.44%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5249109" y="3707418"/>
            <a:ext cx="2954867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Meaning: Out of 100 images, gets 88 right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249109" y="4041151"/>
            <a:ext cx="2954867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Achieved: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249109" y="4233079"/>
            <a:ext cx="2954867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64"/>
              </a:lnSpc>
              <a:buNone/>
            </a:pPr>
            <a:r>
              <a:rPr lang="en-US" sz="132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91.87% 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249109" y="4589671"/>
            <a:ext cx="2954867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4"/>
              </a:lnSpc>
              <a:buNone/>
            </a:pPr>
            <a:r>
              <a:rPr lang="en-US" sz="102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Size: </a:t>
            </a:r>
            <a:r>
              <a:rPr lang="en-US" sz="102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Million weights (55% smaller)</a:t>
            </a:r>
            <a:endParaRPr lang="en-US" sz="102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C76DA0-F2B2-884F-649D-57AB8F33E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7304" y1="37785" x2="40662" y2="36015"/>
                        <a14:backgroundMark x1="30667" y1="24444" x2="18222" y2="52000"/>
                        <a14:backgroundMark x1="36000" y1="28000" x2="61333" y2="20000"/>
                        <a14:backgroundMark x1="61333" y1="20000" x2="64444" y2="15556"/>
                        <a14:backgroundMark x1="29333" y1="52000" x2="53778" y2="76889"/>
                        <a14:backgroundMark x1="57333" y1="67556" x2="81333" y2="40000"/>
                        <a14:backgroundMark x1="58222" y1="28000" x2="68000" y2="51111"/>
                        <a14:backgroundMark x1="55111" y1="35111" x2="47111" y2="27556"/>
                        <a14:backgroundMark x1="34222" y1="38222" x2="36444" y2="53778"/>
                        <a14:backgroundMark x1="44000" y1="40444" x2="47556" y2="29778"/>
                        <a14:backgroundMark x1="42667" y1="34667" x2="43111" y2="33333"/>
                        <a14:backgroundMark x1="50667" y1="48889" x2="46667" y2="58222"/>
                        <a14:backgroundMark x1="54222" y1="52000" x2="56889" y2="53333"/>
                        <a14:backgroundMark x1="55556" y1="60444" x2="60000" y2="60444"/>
                        <a14:backgroundMark x1="40889" y1="35556" x2="52889" y2="29778"/>
                        <a14:backgroundMark x1="53333" y1="29778" x2="55111" y2="29778"/>
                        <a14:backgroundMark x1="53778" y1="29778" x2="52444" y2="28889"/>
                        <a14:backgroundMark x1="59111" y1="59111" x2="60889" y2="57778"/>
                        <a14:backgroundMark x1="56889" y1="59556" x2="55556" y2="59556"/>
                        <a14:backgroundMark x1="43556" y1="45333" x2="43556" y2="45333"/>
                        <a14:backgroundMark x1="49778" y1="47556" x2="49778" y2="47556"/>
                        <a14:backgroundMark x1="51111" y1="39556" x2="51111" y2="39556"/>
                        <a14:backgroundMark x1="56444" y1="58222" x2="56444" y2="58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4471">
            <a:off x="3232143" y="2015868"/>
            <a:ext cx="2349294" cy="2434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3660" y="1547261"/>
            <a:ext cx="7924800" cy="883920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3660" y="2522624"/>
            <a:ext cx="7924800" cy="883920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3660" y="3475122"/>
            <a:ext cx="7924800" cy="883920"/>
          </a:xfrm>
          <a:prstGeom prst="rect">
            <a:avLst/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00360" y="1775861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Architecture Superiority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360" y="1989220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EfficientNet: +1.88% accuracy with 55% fewer parameters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0360" y="2751224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&amp; Stability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360" y="2964583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 err="1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</a:t>
            </a: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reaches peaks at Epoch 14(91.87%) vs Resnet plateau at 86,56%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360" y="3703722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360" y="3917081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EfficientNet: 5.00% overfitting gap vs ResNet: -1.25%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8124" y="1867733"/>
            <a:ext cx="2967752" cy="2124194"/>
          </a:xfrm>
          <a:prstGeom prst="roundRect">
            <a:avLst>
              <a:gd name="adj" fmla="val 17219"/>
            </a:avLst>
          </a:prstGeom>
          <a:solidFill>
            <a:srgbClr val="134C3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46543" y="609600"/>
            <a:ext cx="5850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Efficiency Breakthrough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369343" y="2172533"/>
            <a:ext cx="240531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Accuracy-to-Parameter Ratio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369343" y="2516865"/>
            <a:ext cx="24053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+60-70%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69343" y="3202665"/>
            <a:ext cx="2405315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efficiency vs ResNet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369343" y="3516511"/>
            <a:ext cx="2405315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92"/>
              </a:lnSpc>
              <a:buNone/>
            </a:pPr>
            <a:r>
              <a:rPr lang="en-US" sz="96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accuracy with 55% fewer parameters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Contributions</a:t>
            </a:r>
            <a:endParaRPr lang="en-US" sz="2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B8CF1-39F0-BFD5-3BFA-E40EB9009231}"/>
              </a:ext>
            </a:extLst>
          </p:cNvPr>
          <p:cNvSpPr txBox="1"/>
          <p:nvPr/>
        </p:nvSpPr>
        <p:spPr>
          <a:xfrm>
            <a:off x="548640" y="1273126"/>
            <a:ext cx="7842738" cy="3046988"/>
          </a:xfrm>
          <a:prstGeom prst="rect">
            <a:avLst/>
          </a:prstGeom>
          <a:solidFill>
            <a:srgbClr val="134C3A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Aayush K.C.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Collected and organized the cat vs rabbit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Researched ResNet18 and EfficientNet‑B0 architectures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Set up device configuration (GPU) and project environment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Implemented data loading, preprocessing, and train/</a:t>
            </a:r>
            <a:r>
              <a:rPr lang="en-US" sz="1200" dirty="0" err="1">
                <a:solidFill>
                  <a:schemeClr val="bg1"/>
                </a:solidFill>
              </a:rPr>
              <a:t>val</a:t>
            </a:r>
            <a:r>
              <a:rPr lang="en-US" sz="1200" dirty="0">
                <a:solidFill>
                  <a:schemeClr val="bg1"/>
                </a:solidFill>
              </a:rPr>
              <a:t> split</a:t>
            </a:r>
          </a:p>
          <a:p>
            <a:r>
              <a:rPr lang="en-US" sz="1200" dirty="0">
                <a:solidFill>
                  <a:schemeClr val="bg1"/>
                </a:solidFill>
              </a:rPr>
              <a:t>Laxmi Satyal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Assisted with data cleaning and verification of labels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Helped configure hyperparameters and monitor training runs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Summarized results and wrote parts of the project report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Reviewed slides and report for clarity and consistency</a:t>
            </a:r>
          </a:p>
          <a:p>
            <a:r>
              <a:rPr lang="en-US" sz="1200" dirty="0">
                <a:solidFill>
                  <a:schemeClr val="bg1"/>
                </a:solidFill>
              </a:rPr>
              <a:t>Pramesh Maharjan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Implemented EfficientNet‑B0 model and training pipeline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Performed detailed comparison with ResNet18 (metrics and behavior)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Generated and analyzed result plots (curves, confusion matrices)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Designed and prepared the presentation slides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Conclusions: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08759"/>
            <a:ext cx="7620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enables rapid convergence on limited data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efficient architectures deliver superior accuracy-to-parameter ratios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 recommended for production deployment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60985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Future Directions: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45132"/>
            <a:ext cx="76200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multi-class classification (10+ animal types)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 (combine both models)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edge devices (mobile, IoT)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adversarial robustness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1353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47329" y="1988818"/>
            <a:ext cx="184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Thanks 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8526" y="2461264"/>
            <a:ext cx="30069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Wen Zhang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011691" y="3089914"/>
            <a:ext cx="312061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guidance and instruction in CS 6900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21391" y="3634746"/>
            <a:ext cx="210109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FIG • Wright State University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1391" y="3821432"/>
            <a:ext cx="210109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3,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1020</Words>
  <Application>Microsoft Office PowerPoint</Application>
  <PresentationFormat>On-screen Show (16:9)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pramesh maharjan</cp:lastModifiedBy>
  <cp:revision>8</cp:revision>
  <dcterms:created xsi:type="dcterms:W3CDTF">2025-12-02T00:58:49Z</dcterms:created>
  <dcterms:modified xsi:type="dcterms:W3CDTF">2025-12-02T23:22:06Z</dcterms:modified>
</cp:coreProperties>
</file>